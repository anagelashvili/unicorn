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5955735fb64b7f" /><Relationship Type="http://schemas.openxmlformats.org/officeDocument/2006/relationships/extended-properties" Target="/docProps/app.xml" Id="R8fa1980fcb764e22" /><Relationship Type="http://schemas.openxmlformats.org/officeDocument/2006/relationships/officeDocument" Target="/ppt/presentation.xml" Id="R024c5d8e10e04a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54e5a65c5a49ae"/>
  </p:sldMasterIdLst>
  <p:notesMasterIdLst>
    <p:notesMasterId xmlns:r="http://schemas.openxmlformats.org/officeDocument/2006/relationships" r:id="Raa37612810fe4407"/>
  </p:notesMasterIdLst>
  <p:sldIdLst>
    <p:sldId xmlns:r="http://schemas.openxmlformats.org/officeDocument/2006/relationships" id="256" r:id="R012cde57ed4d40a9"/>
    <p:sldId xmlns:r="http://schemas.openxmlformats.org/officeDocument/2006/relationships" id="257" r:id="R243f9a3b7b214928"/>
    <p:sldId xmlns:r="http://schemas.openxmlformats.org/officeDocument/2006/relationships" id="258" r:id="R80c16eb33cf54071"/>
    <p:sldId xmlns:r="http://schemas.openxmlformats.org/officeDocument/2006/relationships" id="259" r:id="R0860e7d6ad3f45b1"/>
    <p:sldId xmlns:r="http://schemas.openxmlformats.org/officeDocument/2006/relationships" id="260" r:id="R9d2b7a6f55304168"/>
    <p:sldId xmlns:r="http://schemas.openxmlformats.org/officeDocument/2006/relationships" id="261" r:id="Rcac92340313445ef"/>
    <p:sldId xmlns:r="http://schemas.openxmlformats.org/officeDocument/2006/relationships" id="262" r:id="Rea212f67b83742a6"/>
    <p:sldId xmlns:r="http://schemas.openxmlformats.org/officeDocument/2006/relationships" id="263" r:id="Rea745ef13e4a420d"/>
    <p:sldId xmlns:r="http://schemas.openxmlformats.org/officeDocument/2006/relationships" id="264" r:id="R7d7e90bbaf6945f9"/>
    <p:sldId xmlns:r="http://schemas.openxmlformats.org/officeDocument/2006/relationships" id="265" r:id="Rb128f362319146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2bb24bf9b246cc" /><Relationship Type="http://schemas.openxmlformats.org/officeDocument/2006/relationships/slideMaster" Target="/ppt/slideMasters/slideMaster1.xml" Id="Raf54e5a65c5a49ae" /><Relationship Type="http://schemas.openxmlformats.org/officeDocument/2006/relationships/notesMaster" Target="/ppt/notesMasters/notesMaster1.xml" Id="Raa37612810fe4407" /><Relationship Type="http://schemas.openxmlformats.org/officeDocument/2006/relationships/presProps" Target="/ppt/presProps.xml" Id="R14800cf972194acc" /><Relationship Type="http://schemas.openxmlformats.org/officeDocument/2006/relationships/tableStyles" Target="/ppt/tableStyles.xml" Id="Rb8e39cc900434a1d" /><Relationship Type="http://schemas.openxmlformats.org/officeDocument/2006/relationships/slide" Target="/ppt/slides/slide1.xml" Id="R012cde57ed4d40a9" /><Relationship Type="http://schemas.openxmlformats.org/officeDocument/2006/relationships/slide" Target="/ppt/slides/slide2.xml" Id="R243f9a3b7b214928" /><Relationship Type="http://schemas.openxmlformats.org/officeDocument/2006/relationships/slide" Target="/ppt/slides/slide3.xml" Id="R80c16eb33cf54071" /><Relationship Type="http://schemas.openxmlformats.org/officeDocument/2006/relationships/slide" Target="/ppt/slides/slide4.xml" Id="R0860e7d6ad3f45b1" /><Relationship Type="http://schemas.openxmlformats.org/officeDocument/2006/relationships/slide" Target="/ppt/slides/slide5.xml" Id="R9d2b7a6f55304168" /><Relationship Type="http://schemas.openxmlformats.org/officeDocument/2006/relationships/slide" Target="/ppt/slides/slide6.xml" Id="Rcac92340313445ef" /><Relationship Type="http://schemas.openxmlformats.org/officeDocument/2006/relationships/slide" Target="/ppt/slides/slide7.xml" Id="Rea212f67b83742a6" /><Relationship Type="http://schemas.openxmlformats.org/officeDocument/2006/relationships/slide" Target="/ppt/slides/slide8.xml" Id="Rea745ef13e4a420d" /><Relationship Type="http://schemas.openxmlformats.org/officeDocument/2006/relationships/slide" Target="/ppt/slides/slide9.xml" Id="R7d7e90bbaf6945f9" /><Relationship Type="http://schemas.openxmlformats.org/officeDocument/2006/relationships/slide" Target="/ppt/slides/slide10.xml" Id="Rb128f362319146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94a028bb9f4e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7331626db14843" /><Relationship Type="http://schemas.openxmlformats.org/officeDocument/2006/relationships/notesMaster" Target="/ppt/notesMasters/notesMaster1.xml" Id="R52c06a65fdb24f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39a280243d4034" /><Relationship Type="http://schemas.openxmlformats.org/officeDocument/2006/relationships/notesMaster" Target="/ppt/notesMasters/notesMaster1.xml" Id="R90261a8a036946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4c060bed0345db" /><Relationship Type="http://schemas.openxmlformats.org/officeDocument/2006/relationships/notesMaster" Target="/ppt/notesMasters/notesMaster1.xml" Id="R8ad34957521446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88f8c56463481a" /><Relationship Type="http://schemas.openxmlformats.org/officeDocument/2006/relationships/notesMaster" Target="/ppt/notesMasters/notesMaster1.xml" Id="R61e190c933104c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3601be748b4e17" /><Relationship Type="http://schemas.openxmlformats.org/officeDocument/2006/relationships/notesMaster" Target="/ppt/notesMasters/notesMaster1.xml" Id="Rdb000b067e8c4f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7d1ef8faee4536" /><Relationship Type="http://schemas.openxmlformats.org/officeDocument/2006/relationships/notesMaster" Target="/ppt/notesMasters/notesMaster1.xml" Id="R93cbb7e482304c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c0ef7f649d473c" /><Relationship Type="http://schemas.openxmlformats.org/officeDocument/2006/relationships/notesMaster" Target="/ppt/notesMasters/notesMaster1.xml" Id="Rafbfad7c842240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3da65c87c146ba" /><Relationship Type="http://schemas.openxmlformats.org/officeDocument/2006/relationships/notesMaster" Target="/ppt/notesMasters/notesMaster1.xml" Id="Rd440cc4bb5b14f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8529980ed7490e" /><Relationship Type="http://schemas.openxmlformats.org/officeDocument/2006/relationships/notesMaster" Target="/ppt/notesMasters/notesMaster1.xml" Id="R6143a915283140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32f2b635df4d4e" /><Relationship Type="http://schemas.openxmlformats.org/officeDocument/2006/relationships/notesMaster" Target="/ppt/notesMasters/notesMaster1.xml" Id="Rdf7eefb9283b41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6be3bc34494c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a6af818e4046e9" /><Relationship Type="http://schemas.openxmlformats.org/officeDocument/2006/relationships/slideLayout" Target="/ppt/slideLayouts/slideLayout1.xml" Id="R33651db6486f47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651db6486f47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a2ea0818a4f30" /><Relationship Type="http://schemas.openxmlformats.org/officeDocument/2006/relationships/notesSlide" Target="/ppt/notesSlides/notesSlide1.xml" Id="R19e7b18bb5d74a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b2e3e882d4ee4" /><Relationship Type="http://schemas.openxmlformats.org/officeDocument/2006/relationships/notesSlide" Target="/ppt/notesSlides/notesSlide2.xml" Id="Rfb8c0b5c22224b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68165282741e0" /><Relationship Type="http://schemas.openxmlformats.org/officeDocument/2006/relationships/notesSlide" Target="/ppt/notesSlides/notesSlide3.xml" Id="R330985b3e4a943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2ade4752f421d" /><Relationship Type="http://schemas.openxmlformats.org/officeDocument/2006/relationships/notesSlide" Target="/ppt/notesSlides/notesSlide4.xml" Id="Rbf33bbb6f40b44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903467dcd4070" /><Relationship Type="http://schemas.openxmlformats.org/officeDocument/2006/relationships/notesSlide" Target="/ppt/notesSlides/notesSlide5.xml" Id="R4f8798c4c40b46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5334001554517" /><Relationship Type="http://schemas.openxmlformats.org/officeDocument/2006/relationships/notesSlide" Target="/ppt/notesSlides/notesSlide6.xml" Id="Rfde7794781234a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d74c3ea8b442f" /><Relationship Type="http://schemas.openxmlformats.org/officeDocument/2006/relationships/notesSlide" Target="/ppt/notesSlides/notesSlide7.xml" Id="R28d18301bc0d4e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d7a092c184070" /><Relationship Type="http://schemas.openxmlformats.org/officeDocument/2006/relationships/notesSlide" Target="/ppt/notesSlides/notesSlide8.xml" Id="Rc37f5916e13a46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62d6d68304cab" /><Relationship Type="http://schemas.openxmlformats.org/officeDocument/2006/relationships/notesSlide" Target="/ppt/notesSlides/notesSlide9.xml" Id="R7b558e101ffc43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1c8e295f240dd" /><Relationship Type="http://schemas.openxmlformats.org/officeDocument/2006/relationships/notesSlide" Target="/ppt/notesSlides/notesSlide10.xml" Id="R565a4ad6b58643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309FB4-E047-41C0-BF90-F058F6E4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11312"/>
                </a:solidFill>
              </a:defRPr>
            </a:pPr>
            <a:r>
              <a:rPr sz="5250" b="1">
                <a:solidFill>
                  <a:srgbClr val="111312"/>
                </a:solidFill>
              </a:rPr>
              <a:t>How AI Sees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680E9-95F1-4921-9555-677659CB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9706C"/>
                </a:solidFill>
              </a:defRPr>
            </a:pPr>
            <a:r>
              <a:rPr sz="2100" b="0">
                <a:solidFill>
                  <a:srgbClr val="69706C"/>
                </a:solidFill>
              </a:rPr>
              <a:t>Interactive Computer Vision Learning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AEDDE-BD4E-49DD-8F40-2011A6C4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723900"/>
            <a:ext cx="4191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7"/>
          </a:solidFill>
          <a:ln xmlns:a="http://schemas.openxmlformats.org/drawingml/2006/main" w="9525">
            <a:solidFill>
              <a:srgbClr val="0708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A86C3-D6E6-437F-92C4-8421928D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219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1EA"/>
                </a:solidFill>
              </a:defRPr>
            </a:pPr>
            <a:r>
              <a:rPr sz="2100" b="1">
                <a:solidFill>
                  <a:srgbClr val="F4F1EA"/>
                </a:solidFill>
              </a:rPr>
              <a:t>pixels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E0003-1D3F-4201-B4E6-F386DBC1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43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889"/>
                </a:solidFill>
              </a:defRPr>
            </a:pPr>
            <a:r>
              <a:rPr sz="2100" b="1">
                <a:solidFill>
                  <a:srgbClr val="00A889"/>
                </a:solidFill>
              </a:rPr>
              <a:t>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73C27-197D-4993-B25F-DCB8A796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7C1F"/>
                </a:solidFill>
              </a:defRPr>
            </a:pPr>
            <a:r>
              <a:rPr sz="2100" b="1">
                <a:solidFill>
                  <a:srgbClr val="C47C1F"/>
                </a:solidFill>
              </a:rPr>
              <a:t>edges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52E08-0D30-4984-8BDF-E080F6BA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09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F9F42"/>
                </a:solidFill>
              </a:defRPr>
            </a:pPr>
            <a:r>
              <a:rPr sz="2100" b="1">
                <a:solidFill>
                  <a:srgbClr val="5F9F42"/>
                </a:solidFill>
              </a:rPr>
              <a:t>vector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54389-3F15-4E58-B258-10136EB9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338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1EA"/>
                </a:solidFill>
              </a:defRPr>
            </a:pPr>
            <a:r>
              <a:rPr sz="2100" b="1">
                <a:solidFill>
                  <a:srgbClr val="F4F1EA"/>
                </a:solidFill>
              </a:rPr>
              <a:t>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AE40D-F924-4271-97C4-16540495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2"/>
                </a:solidFill>
              </a:defRPr>
            </a:pPr>
            <a:r>
              <a:rPr sz="2250" b="1">
                <a:solidFill>
                  <a:srgbClr val="111312"/>
                </a:solidFill>
              </a:rPr>
              <a:t>Making AI vision visible and understandable.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283EC-4B45-4300-AB10-46239A1E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483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6C"/>
                </a:solidFill>
              </a:defRPr>
            </a:pPr>
            <a:r>
              <a:rPr sz="1350" b="0">
                <a:solidFill>
                  <a:srgbClr val="69706C"/>
                </a:solidFill>
              </a:rPr>
              <a:t>Final exam MVP | Web app + AI Tutor Agent +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59AE1-AEA4-456B-AB47-524D6FE7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706C"/>
                </a:solidFill>
              </a:defRPr>
            </a:pPr>
            <a:r>
              <a:rPr sz="1200" b="1">
                <a:solidFill>
                  <a:srgbClr val="69706C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668116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B6166D-3E5A-421B-AE39-765582DE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706C"/>
                </a:solidFill>
              </a:defRPr>
            </a:pPr>
            <a:r>
              <a:rPr sz="1050" b="1">
                <a:solidFill>
                  <a:srgbClr val="69706C"/>
                </a:solidFill>
              </a:rPr>
              <a:t>HOW AI SEES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F6E37-D6E0-479B-A513-0CD0080B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312"/>
                </a:solidFill>
              </a:defRPr>
            </a:pPr>
            <a:r>
              <a:rPr sz="3300" b="1">
                <a:solidFill>
                  <a:srgbClr val="111312"/>
                </a:solidFill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40DE4-1874-40EC-B9C5-FFBB5346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10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706C"/>
                </a:solidFill>
              </a:defRPr>
            </a:pPr>
            <a:r>
              <a:rPr sz="1200" b="1">
                <a:solidFill>
                  <a:srgbClr val="69706C"/>
                </a:solidFill>
              </a:rPr>
              <a:t>Final Project Pitch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2712D-95D2-4090-AD05-BCB199FE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D9D4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C5389-FC5F-4F69-A8BF-738FFA34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706C"/>
                </a:solidFill>
              </a:defRPr>
            </a:pPr>
            <a:r>
              <a:rPr sz="1200" b="1">
                <a:solidFill>
                  <a:srgbClr val="69706C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7E47E-015F-4469-86AB-86E27334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353"/>
          </a:solidFill>
          <a:ln xmlns:a="http://schemas.openxmlformats.org/drawingml/2006/main" w="9525">
            <a:solidFill>
              <a:srgbClr val="C553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BFB3B-6D73-407B-9194-45B4EC11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52650"/>
            <a:ext cx="691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</a:defRPr>
            </a:pPr>
            <a:r>
              <a:rPr sz="1725" b="1">
                <a:solidFill>
                  <a:srgbClr val="111312"/>
                </a:solidFill>
              </a:rPr>
              <a:t>AI vision feels invisible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7A28F-E23D-41B7-9CC7-6F1084E3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0"/>
            <a:ext cx="691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6C"/>
                </a:solidFill>
              </a:defRPr>
            </a:pPr>
            <a:r>
              <a:rPr sz="1350" b="0">
                <a:solidFill>
                  <a:srgbClr val="69706C"/>
                </a:solidFill>
              </a:rPr>
              <a:t>Learners see predictions, but not the hidden process behind them.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28B7B-E997-411B-9FF9-DE3C7583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C1F"/>
          </a:solidFill>
          <a:ln xmlns:a="http://schemas.openxmlformats.org/drawingml/2006/main" w="9525">
            <a:solidFill>
              <a:srgbClr val="C47C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06281-137E-4BC7-8BFF-4A33B0F3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67050"/>
            <a:ext cx="691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</a:defRPr>
            </a:pPr>
            <a:r>
              <a:rPr sz="1725" b="1">
                <a:solidFill>
                  <a:srgbClr val="111312"/>
                </a:solidFill>
              </a:rPr>
              <a:t>Concepts are too abstract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F31A48-C5FD-4218-8889-113BD9DF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90900"/>
            <a:ext cx="691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6C"/>
                </a:solidFill>
              </a:defRPr>
            </a:pPr>
            <a:r>
              <a:rPr sz="1350" b="0">
                <a:solidFill>
                  <a:srgbClr val="69706C"/>
                </a:solidFill>
              </a:rPr>
              <a:t>Pixels, tensors, embeddings, and vectors are hard to connect to real images.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83BE50-8540-49F9-82A3-A1763C89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9"/>
          </a:solidFill>
          <a:ln xmlns:a="http://schemas.openxmlformats.org/drawingml/2006/main" w="9525">
            <a:solidFill>
              <a:srgbClr val="00A88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618EB-E1EE-47DA-94D5-158CBE55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691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</a:defRPr>
            </a:pPr>
            <a:r>
              <a:rPr sz="1725" b="1">
                <a:solidFill>
                  <a:srgbClr val="111312"/>
                </a:solidFill>
              </a:rPr>
              <a:t>Passive tutorials are not enough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BC545-B5A4-4FD9-951F-D6DE7A5E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05300"/>
            <a:ext cx="691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6C"/>
                </a:solidFill>
              </a:defRPr>
            </a:pPr>
            <a:r>
              <a:rPr sz="1350" b="0">
                <a:solidFill>
                  <a:srgbClr val="69706C"/>
                </a:solidFill>
              </a:rPr>
              <a:t>Students need to touch the data and see the pipeline change live.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65523-2F7D-4ED6-97B1-6C948EBE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71700"/>
            <a:ext cx="2343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6DC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AE9E6-191A-4706-829F-C1095CBA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71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2"/>
                </a:solidFill>
              </a:defRPr>
            </a:pPr>
            <a:r>
              <a:rPr sz="1875" b="1">
                <a:solidFill>
                  <a:srgbClr val="111312"/>
                </a:solidFill>
              </a:rPr>
              <a:t>Prediction 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438C87-E08B-438B-8476-DC916362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05150"/>
            <a:ext cx="1676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9706C"/>
                </a:solidFill>
              </a:defRPr>
            </a:pPr>
            <a:r>
              <a:rPr sz="1650" b="0">
                <a:solidFill>
                  <a:srgbClr val="69706C"/>
                </a:solidFill>
              </a:rPr>
              <a:t>The result is visible, but the learning path is hidden.</a:t>
            </a:r>
          </a:p>
        </p:txBody>
      </p:sp>
    </p:spTree>
    <p:extLst>
      <p:ext uri="{BB962C8B-B14F-4D97-AF65-F5344CB8AC3E}">
        <p14:creationId xmlns:p14="http://schemas.microsoft.com/office/powerpoint/2010/main" val="2768937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313FC0-D27D-4DE4-90BC-59F01381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706C"/>
                </a:solidFill>
              </a:defRPr>
            </a:pPr>
            <a:r>
              <a:rPr sz="1050" b="1">
                <a:solidFill>
                  <a:srgbClr val="69706C"/>
                </a:solidFill>
              </a:rPr>
              <a:t>HOW AI SEES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8A128-965F-461A-988C-954D247C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312"/>
                </a:solidFill>
              </a:defRPr>
            </a:pPr>
            <a:r>
              <a:rPr sz="3300" b="1">
                <a:solidFill>
                  <a:srgbClr val="111312"/>
                </a:solidFill>
              </a:rPr>
              <a:t>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CC315-3678-4E09-B9F8-81867979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10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706C"/>
                </a:solidFill>
              </a:defRPr>
            </a:pPr>
            <a:r>
              <a:rPr sz="1200" b="1">
                <a:solidFill>
                  <a:srgbClr val="69706C"/>
                </a:solidFill>
              </a:rPr>
              <a:t>Final Project Pitch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D2E53-97DB-4CB1-BFB5-8729E1CC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D9D4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9965A-855E-44D1-93DD-DA1B97A9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706C"/>
                </a:solidFill>
              </a:defRPr>
            </a:pPr>
            <a:r>
              <a:rPr sz="1200" b="1">
                <a:solidFill>
                  <a:srgbClr val="69706C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6C14C-366A-42FA-8225-B8DDA672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657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2"/>
                </a:solidFill>
              </a:defRPr>
            </a:pPr>
            <a:r>
              <a:rPr sz="2550" b="1">
                <a:solidFill>
                  <a:srgbClr val="111312"/>
                </a:solidFill>
              </a:rPr>
              <a:t>An interactive workbench that shows how one frame becomes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5723C-0B9F-4D4F-9545-27D4341D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9"/>
          </a:solidFill>
          <a:ln xmlns:a="http://schemas.openxmlformats.org/drawingml/2006/main" w="9525">
            <a:solidFill>
              <a:srgbClr val="00A88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62328-A97E-41A6-A7EB-76BDC0C2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</a:defRPr>
            </a:pPr>
            <a:r>
              <a:rPr sz="1725" b="1">
                <a:solidFill>
                  <a:srgbClr val="111312"/>
                </a:solidFill>
              </a:rPr>
              <a:t>Live or demo frame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56A88-17D1-4872-AF58-659B90FF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57600"/>
            <a:ext cx="653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6C"/>
                </a:solidFill>
              </a:defRPr>
            </a:pPr>
            <a:r>
              <a:rPr sz="1350" b="0">
                <a:solidFill>
                  <a:srgbClr val="69706C"/>
                </a:solidFill>
              </a:rPr>
              <a:t>Use the camera or animated demo.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CE651-FBF1-4EA4-B43C-F53ADF06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9"/>
          </a:solidFill>
          <a:ln xmlns:a="http://schemas.openxmlformats.org/drawingml/2006/main" w="9525">
            <a:solidFill>
              <a:srgbClr val="00A88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A8D4E-055B-461F-91C6-03F07C82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38600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</a:defRPr>
            </a:pPr>
            <a:r>
              <a:rPr sz="1725" b="1">
                <a:solidFill>
                  <a:srgbClr val="111312"/>
                </a:solidFill>
              </a:rPr>
              <a:t>Visible 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5112F-76C8-49ED-AE0F-F13B78E9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62450"/>
            <a:ext cx="653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6C"/>
                </a:solidFill>
              </a:defRPr>
            </a:pPr>
            <a:r>
              <a:rPr sz="1350" b="0">
                <a:solidFill>
                  <a:srgbClr val="69706C"/>
                </a:solidFill>
              </a:rPr>
              <a:t>Pixels -&gt; matrix -&gt; edges -&gt; vector -&gt; model.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EB2C8-BD90-43D1-9A8A-4A872C6F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9"/>
          </a:solidFill>
          <a:ln xmlns:a="http://schemas.openxmlformats.org/drawingml/2006/main" w="9525">
            <a:solidFill>
              <a:srgbClr val="00A88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9D0C5-7B62-4C1C-8954-E8A8E704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43450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</a:defRPr>
            </a:pPr>
            <a:r>
              <a:rPr sz="1725" b="1">
                <a:solidFill>
                  <a:srgbClr val="111312"/>
                </a:solidFill>
              </a:rPr>
              <a:t>Guided explanation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17DD9-46E2-4C0D-A53C-5B60D7F2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67300"/>
            <a:ext cx="653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6C"/>
                </a:solidFill>
              </a:defRPr>
            </a:pPr>
            <a:r>
              <a:rPr sz="1350" b="0">
                <a:solidFill>
                  <a:srgbClr val="69706C"/>
                </a:solidFill>
              </a:rPr>
              <a:t>The tutor explains the math in simple language.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9B5A6-FE99-44AF-B8D6-591DCF58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7"/>
          </a:solidFill>
          <a:ln xmlns:a="http://schemas.openxmlformats.org/drawingml/2006/main" w="9525">
            <a:solidFill>
              <a:srgbClr val="07080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8D7845-C05C-4062-973B-809B0AA4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241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A889"/>
                </a:solidFill>
              </a:defRPr>
            </a:pPr>
            <a:r>
              <a:rPr sz="1725" b="1">
                <a:solidFill>
                  <a:srgbClr val="00A889"/>
                </a:solidFill>
              </a:rPr>
              <a:t>I[y][x] = [R,G,B]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75C78-934F-4C78-9CFD-BF54108D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290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7C1F"/>
                </a:solidFill>
              </a:defRPr>
            </a:pPr>
            <a:r>
              <a:rPr sz="1725" b="1">
                <a:solidFill>
                  <a:srgbClr val="C47C1F"/>
                </a:solidFill>
              </a:rPr>
              <a:t>v = normalize(features)</a:t>
            </a:r>
          </a:p>
        </p:txBody>
      </p:sp>
    </p:spTree>
    <p:extLst>
      <p:ext uri="{BB962C8B-B14F-4D97-AF65-F5344CB8AC3E}">
        <p14:creationId xmlns:p14="http://schemas.microsoft.com/office/powerpoint/2010/main" val="1150151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8973A8-D613-4857-AAEC-C35A0AE9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706C"/>
                </a:solidFill>
              </a:defRPr>
            </a:pPr>
            <a:r>
              <a:rPr sz="1050" b="1">
                <a:solidFill>
                  <a:srgbClr val="69706C"/>
                </a:solidFill>
              </a:rPr>
              <a:t>HOW AI SEES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5C725-39C1-4A53-B037-5A0D6180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312"/>
                </a:solidFill>
              </a:defRPr>
            </a:pPr>
            <a:r>
              <a:rPr sz="3300" b="1">
                <a:solidFill>
                  <a:srgbClr val="111312"/>
                </a:solidFill>
              </a:rPr>
              <a:t>Product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B1807-6DC4-4AC8-8C2A-C2A217BD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10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706C"/>
                </a:solidFill>
              </a:defRPr>
            </a:pPr>
            <a:r>
              <a:rPr sz="1200" b="1">
                <a:solidFill>
                  <a:srgbClr val="69706C"/>
                </a:solidFill>
              </a:rPr>
              <a:t>Final Project Pitch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1B3F1-90BD-4E35-80EB-6643DD56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D9D4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C686B-34EA-4F66-814F-10CDFD24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706C"/>
                </a:solidFill>
              </a:defRPr>
            </a:pPr>
            <a:r>
              <a:rPr sz="1200" b="1">
                <a:solidFill>
                  <a:srgbClr val="69706C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7C716-0B5C-4E07-9D05-80CCAF8D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4953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7"/>
          </a:solidFill>
          <a:ln xmlns:a="http://schemas.openxmlformats.org/drawingml/2006/main" w="9525">
            <a:solidFill>
              <a:srgbClr val="07080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27174-F3D6-4DB5-8801-16AA0BEC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1EA"/>
                </a:solidFill>
              </a:defRPr>
            </a:pPr>
            <a:r>
              <a:rPr sz="2700" b="1">
                <a:solidFill>
                  <a:srgbClr val="F4F1EA"/>
                </a:solidFill>
              </a:rPr>
              <a:t>Live demo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EF2C8-343F-43F0-96AF-CA4F2B0D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4F1EA"/>
                </a:solidFill>
              </a:defRPr>
            </a:pPr>
            <a:r>
              <a:rPr sz="2100" b="0">
                <a:solidFill>
                  <a:srgbClr val="F4F1EA"/>
                </a:solidFill>
              </a:rPr>
              <a:t>Start Camera / Demo</a:t>
            </a:r>
          </a:p>
          <a:p xmlns:a="http://schemas.openxmlformats.org/drawingml/2006/main">
            <a:pPr algn="l">
              <a:defRPr sz="2100" b="0">
                <a:solidFill>
                  <a:srgbClr val="F4F1EA"/>
                </a:solidFill>
              </a:defRPr>
            </a:pPr>
            <a:r>
              <a:rPr sz="2100" b="0">
                <a:solidFill>
                  <a:srgbClr val="F4F1EA"/>
                </a:solidFill>
              </a:rPr>
              <a:t>Freeze frame</a:t>
            </a:r>
          </a:p>
          <a:p xmlns:a="http://schemas.openxmlformats.org/drawingml/2006/main">
            <a:pPr algn="l">
              <a:defRPr sz="2100" b="0">
                <a:solidFill>
                  <a:srgbClr val="F4F1EA"/>
                </a:solidFill>
              </a:defRPr>
            </a:pPr>
            <a:r>
              <a:rPr sz="2100" b="0">
                <a:solidFill>
                  <a:srgbClr val="F4F1EA"/>
                </a:solidFill>
              </a:rPr>
              <a:t>Click contour</a:t>
            </a:r>
          </a:p>
          <a:p xmlns:a="http://schemas.openxmlformats.org/drawingml/2006/main">
            <a:pPr algn="l">
              <a:defRPr sz="2100" b="0">
                <a:solidFill>
                  <a:srgbClr val="F4F1EA"/>
                </a:solidFill>
              </a:defRPr>
            </a:pPr>
            <a:r>
              <a:rPr sz="2100" b="0">
                <a:solidFill>
                  <a:srgbClr val="F4F1EA"/>
                </a:solidFill>
              </a:rPr>
              <a:t>Ask tutor</a:t>
            </a:r>
          </a:p>
          <a:p xmlns:a="http://schemas.openxmlformats.org/drawingml/2006/main">
            <a:pPr algn="l">
              <a:defRPr sz="2100" b="0">
                <a:solidFill>
                  <a:srgbClr val="F4F1EA"/>
                </a:solidFill>
              </a:defRPr>
            </a:pPr>
            <a:r>
              <a:rPr sz="2100" b="0">
                <a:solidFill>
                  <a:srgbClr val="F4F1EA"/>
                </a:solidFill>
              </a:rPr>
              <a:t>Generate summary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2BA45-3287-4AC3-9A2E-CF6D39E2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9"/>
          </a:solidFill>
          <a:ln xmlns:a="http://schemas.openxmlformats.org/drawingml/2006/main" w="9525">
            <a:solidFill>
              <a:srgbClr val="00A88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8DC90-EB08-4144-978E-47F643BE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5265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</a:defRPr>
            </a:pPr>
            <a:r>
              <a:rPr sz="1725" b="1">
                <a:solidFill>
                  <a:srgbClr val="111312"/>
                </a:solidFill>
              </a:rPr>
              <a:t>Functional 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99A70-F3E3-4C70-8EC3-84F165E6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76500"/>
            <a:ext cx="443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6C"/>
                </a:solidFill>
              </a:defRPr>
            </a:pPr>
            <a:r>
              <a:rPr sz="1350" b="0">
                <a:solidFill>
                  <a:srgbClr val="69706C"/>
                </a:solidFill>
              </a:rPr>
              <a:t>The app runs in the browser with no backend dependency.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F912A-C6DA-45BA-83DA-4ABBFC50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9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9"/>
          </a:solidFill>
          <a:ln xmlns:a="http://schemas.openxmlformats.org/drawingml/2006/main" w="9525">
            <a:solidFill>
              <a:srgbClr val="00A88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318C3-C87F-4633-9A08-9EA33B17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7180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</a:defRPr>
            </a:pPr>
            <a:r>
              <a:rPr sz="1725" b="1">
                <a:solidFill>
                  <a:srgbClr val="111312"/>
                </a:solidFill>
              </a:rPr>
              <a:t>Real interaction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24F31-28DF-4609-8030-014BB2FB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95650"/>
            <a:ext cx="443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6C"/>
                </a:solidFill>
              </a:defRPr>
            </a:pPr>
            <a:r>
              <a:rPr sz="1350" b="0">
                <a:solidFill>
                  <a:srgbClr val="69706C"/>
                </a:solidFill>
              </a:rPr>
              <a:t>Canvas analysis updates RGB, edge, contour, and vector 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3AA78-F728-4AA8-BEDB-51DA3C53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9"/>
          </a:solidFill>
          <a:ln xmlns:a="http://schemas.openxmlformats.org/drawingml/2006/main" w="9525">
            <a:solidFill>
              <a:srgbClr val="00A88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408D06-AA3F-404C-ADD7-44EBB38F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9095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</a:defRPr>
            </a:pPr>
            <a:r>
              <a:rPr sz="1725" b="1">
                <a:solidFill>
                  <a:srgbClr val="111312"/>
                </a:solidFill>
              </a:rPr>
              <a:t>UX ready for 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B3A88-1A4B-4428-8802-FC17F635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14800"/>
            <a:ext cx="443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6C"/>
                </a:solidFill>
              </a:defRPr>
            </a:pPr>
            <a:r>
              <a:rPr sz="1350" b="0">
                <a:solidFill>
                  <a:srgbClr val="69706C"/>
                </a:solidFill>
              </a:rPr>
              <a:t>Main controls are visible and the technical details are optional.</a:t>
            </a:r>
          </a:p>
        </p:txBody>
      </p:sp>
    </p:spTree>
    <p:extLst>
      <p:ext uri="{BB962C8B-B14F-4D97-AF65-F5344CB8AC3E}">
        <p14:creationId xmlns:p14="http://schemas.microsoft.com/office/powerpoint/2010/main" val="3702097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B2F283-B0EE-4E1B-8AD0-903FF7AD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706C"/>
                </a:solidFill>
              </a:defRPr>
            </a:pPr>
            <a:r>
              <a:rPr sz="1050" b="1">
                <a:solidFill>
                  <a:srgbClr val="69706C"/>
                </a:solidFill>
              </a:rPr>
              <a:t>HOW AI SEES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93690-A421-4336-8936-DEF75C10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312"/>
                </a:solidFill>
              </a:defRPr>
            </a:pPr>
            <a:r>
              <a:rPr sz="3300" b="1">
                <a:solidFill>
                  <a:srgbClr val="111312"/>
                </a:solidFill>
              </a:rPr>
              <a:t>AI Vision Tutor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B6932-DD4E-4D7F-8D2A-826727BD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10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706C"/>
                </a:solidFill>
              </a:defRPr>
            </a:pPr>
            <a:r>
              <a:rPr sz="1200" b="1">
                <a:solidFill>
                  <a:srgbClr val="69706C"/>
                </a:solidFill>
              </a:rPr>
              <a:t>Final Project Pitch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BB594-7D2F-4C73-B4D8-2E59F46C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D9D4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2EB37-7EC6-4DAE-AD86-B76500F3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706C"/>
                </a:solidFill>
              </a:defRPr>
            </a:pPr>
            <a:r>
              <a:rPr sz="1200" b="1">
                <a:solidFill>
                  <a:srgbClr val="69706C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BD254-E684-44E3-88B3-5299D600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5ADC9-975E-47D3-AFF5-80999E54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2"/>
                </a:solidFill>
              </a:defRPr>
            </a:pPr>
            <a:r>
              <a:rPr sz="2400" b="1">
                <a:solidFill>
                  <a:srgbClr val="111312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1DACD-6972-4B2D-BA2E-7E9D9ABB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9706C"/>
                </a:solidFill>
              </a:defRPr>
            </a:pPr>
            <a:r>
              <a:rPr sz="1650" b="0">
                <a:solidFill>
                  <a:srgbClr val="69706C"/>
                </a:solidFill>
              </a:rPr>
              <a:t>User question + current camera/demo frame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CA429-29DD-45B7-8E5D-EB5E7CD7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431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7"/>
          </a:solidFill>
          <a:ln xmlns:a="http://schemas.openxmlformats.org/drawingml/2006/main" w="9525">
            <a:solidFill>
              <a:srgbClr val="07080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E87E0-2A27-4214-A6A3-C22EF55A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051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1EA"/>
                </a:solidFill>
              </a:defRPr>
            </a:pPr>
            <a:r>
              <a:rPr sz="2400" b="1">
                <a:solidFill>
                  <a:srgbClr val="F4F1EA"/>
                </a:solidFill>
              </a:rPr>
              <a:t>Process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C6D38-3D79-4416-8439-57C30566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528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1EA"/>
                </a:solidFill>
              </a:defRPr>
            </a:pPr>
            <a:r>
              <a:rPr sz="1650" b="0">
                <a:solidFill>
                  <a:srgbClr val="F4F1EA"/>
                </a:solidFill>
              </a:rPr>
              <a:t>Analyze concept, frame stats, edge signal, and vector values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A84CB-4AEA-4CB3-9811-9E39B06E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A9283-8D0A-4EAF-8ED4-F9F901D8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051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2"/>
                </a:solidFill>
              </a:defRPr>
            </a:pPr>
            <a:r>
              <a:rPr sz="2400" b="1">
                <a:solidFill>
                  <a:srgbClr val="111312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728F5-F06D-4DED-8BAB-F69613AB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528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9706C"/>
                </a:solidFill>
              </a:defRPr>
            </a:pPr>
            <a:r>
              <a:rPr sz="1650" b="0">
                <a:solidFill>
                  <a:srgbClr val="69706C"/>
                </a:solidFill>
              </a:rPr>
              <a:t>Plain-language explanation, formula, and learning summary</a:t>
            </a:r>
          </a:p>
        </p:txBody>
      </p:sp>
    </p:spTree>
    <p:extLst>
      <p:ext uri="{BB962C8B-B14F-4D97-AF65-F5344CB8AC3E}">
        <p14:creationId xmlns:p14="http://schemas.microsoft.com/office/powerpoint/2010/main" val="8623276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CEFEAA-0801-4089-94DE-4A63A761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706C"/>
                </a:solidFill>
              </a:defRPr>
            </a:pPr>
            <a:r>
              <a:rPr sz="1050" b="1">
                <a:solidFill>
                  <a:srgbClr val="69706C"/>
                </a:solidFill>
              </a:rPr>
              <a:t>HOW AI SEES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19768-8B47-43B0-83EC-B153C4D1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312"/>
                </a:solidFill>
              </a:defRPr>
            </a:pPr>
            <a:r>
              <a:rPr sz="3300" b="1">
                <a:solidFill>
                  <a:srgbClr val="111312"/>
                </a:solidFill>
              </a:rPr>
              <a:t>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58FD3-F54A-415E-8F82-65EEBBC8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10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706C"/>
                </a:solidFill>
              </a:defRPr>
            </a:pPr>
            <a:r>
              <a:rPr sz="1200" b="1">
                <a:solidFill>
                  <a:srgbClr val="69706C"/>
                </a:solidFill>
              </a:rPr>
              <a:t>Final Project Pitch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5EFEA-AE7C-446F-BDAE-66EDEAF1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D9D4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918FD-D0E6-4ED5-AF53-0E301437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706C"/>
                </a:solidFill>
              </a:defRPr>
            </a:pPr>
            <a:r>
              <a:rPr sz="1200" b="1">
                <a:solidFill>
                  <a:srgbClr val="69706C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97063-A253-4D94-B8DF-55F1C5DC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371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18275-747F-415D-A1B4-B84A9C03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312"/>
                </a:solidFill>
              </a:defRPr>
            </a:pPr>
            <a:r>
              <a:rPr sz="1800" b="1">
                <a:solidFill>
                  <a:srgbClr val="111312"/>
                </a:solidFill>
              </a:rPr>
              <a:t>Frame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AF74C-A9FA-4148-9E85-E0A5C162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1813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9706C"/>
                </a:solidFill>
              </a:defRPr>
            </a:pPr>
            <a:r>
              <a:rPr sz="1950" b="1">
                <a:solidFill>
                  <a:srgbClr val="69706C"/>
                </a:solidFill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C1996-BFF4-47F8-A9E7-C44728FE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14650"/>
            <a:ext cx="1371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7"/>
          </a:solidFill>
          <a:ln xmlns:a="http://schemas.openxmlformats.org/drawingml/2006/main" w="9525">
            <a:solidFill>
              <a:srgbClr val="07080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B07EF-7679-4C39-B89F-52020AF0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004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1EA"/>
                </a:solidFill>
              </a:defRPr>
            </a:pPr>
            <a:r>
              <a:rPr sz="1800" b="1">
                <a:solidFill>
                  <a:srgbClr val="F4F1EA"/>
                </a:solidFill>
              </a:rPr>
              <a:t>Pixels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E35EC-2A86-44D4-A432-D974D25F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9706C"/>
                </a:solidFill>
              </a:defRPr>
            </a:pPr>
            <a:r>
              <a:rPr sz="1950" b="1">
                <a:solidFill>
                  <a:srgbClr val="69706C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88E8A-168F-4E0D-B252-A534EFF2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14650"/>
            <a:ext cx="1371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B1BC8-F86D-422B-8DC3-19A3A88B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04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312"/>
                </a:solidFill>
              </a:defRPr>
            </a:pPr>
            <a:r>
              <a:rPr sz="1800" b="1">
                <a:solidFill>
                  <a:srgbClr val="111312"/>
                </a:solidFill>
              </a:rPr>
              <a:t>Edges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8FB81-BD39-4F60-887E-FE1FC79B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813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9706C"/>
                </a:solidFill>
              </a:defRPr>
            </a:pPr>
            <a:r>
              <a:rPr sz="1950" b="1">
                <a:solidFill>
                  <a:srgbClr val="69706C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92C4F7-7EC8-49B4-BE4E-FC1A4431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14650"/>
            <a:ext cx="1371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7"/>
          </a:solidFill>
          <a:ln xmlns:a="http://schemas.openxmlformats.org/drawingml/2006/main" w="9525">
            <a:solidFill>
              <a:srgbClr val="07080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8176B-0C8F-4374-8FC6-BCE8E4E4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004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1EA"/>
                </a:solidFill>
              </a:defRPr>
            </a:pPr>
            <a:r>
              <a:rPr sz="1800" b="1">
                <a:solidFill>
                  <a:srgbClr val="F4F1EA"/>
                </a:solidFill>
              </a:rPr>
              <a:t>Vector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BF978-42C4-4B55-900D-ED3D75AB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813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9706C"/>
                </a:solidFill>
              </a:defRPr>
            </a:pPr>
            <a:r>
              <a:rPr sz="1950" b="1">
                <a:solidFill>
                  <a:srgbClr val="69706C"/>
                </a:solidFill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7B4DD4-52F9-4E03-BBC1-3BFA86FD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14650"/>
            <a:ext cx="1371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5B7EFA-BAEE-4FC1-B3D1-89D81A6D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004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312"/>
                </a:solidFill>
              </a:defRPr>
            </a:pPr>
            <a:r>
              <a:rPr sz="1800" b="1">
                <a:solidFill>
                  <a:srgbClr val="111312"/>
                </a:solidFill>
              </a:rPr>
              <a:t>Tutor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447C1-C200-4D40-8AA4-F2F2DBBB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813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9706C"/>
                </a:solidFill>
              </a:defRPr>
            </a:pPr>
            <a:r>
              <a:rPr sz="1950" b="1">
                <a:solidFill>
                  <a:srgbClr val="69706C"/>
                </a:solidFill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F63C1C-C6DE-40A6-BD6D-AF4FBA59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14650"/>
            <a:ext cx="1371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7"/>
          </a:solidFill>
          <a:ln xmlns:a="http://schemas.openxmlformats.org/drawingml/2006/main" w="9525">
            <a:solidFill>
              <a:srgbClr val="07080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67128B-82F7-4C1E-9D0B-E18942C3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004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1EA"/>
                </a:solidFill>
              </a:defRPr>
            </a:pPr>
            <a:r>
              <a:rPr sz="1650" b="1">
                <a:solidFill>
                  <a:srgbClr val="F4F1EA"/>
                </a:solidFill>
              </a:rPr>
              <a:t>Summary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ED702C-048A-47C8-B36D-38DAB6B2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312"/>
                </a:solidFill>
              </a:defRPr>
            </a:pPr>
            <a:r>
              <a:rPr sz="2250" b="1">
                <a:solidFill>
                  <a:srgbClr val="111312"/>
                </a:solidFill>
              </a:rPr>
              <a:t>The agent adds value by translating technical frame data into a learning outcome.</a:t>
            </a:r>
          </a:p>
        </p:txBody>
      </p:sp>
    </p:spTree>
    <p:extLst>
      <p:ext uri="{BB962C8B-B14F-4D97-AF65-F5344CB8AC3E}">
        <p14:creationId xmlns:p14="http://schemas.microsoft.com/office/powerpoint/2010/main" val="13727201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CF78F9-8903-4E88-B3E8-4F0A44E0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706C"/>
                </a:solidFill>
              </a:defRPr>
            </a:pPr>
            <a:r>
              <a:rPr sz="1050" b="1">
                <a:solidFill>
                  <a:srgbClr val="69706C"/>
                </a:solidFill>
              </a:rPr>
              <a:t>HOW AI SEES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31012-0AA4-4D84-AB35-3218E109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312"/>
                </a:solidFill>
              </a:defRPr>
            </a:pPr>
            <a:r>
              <a:rPr sz="3300" b="1">
                <a:solidFill>
                  <a:srgbClr val="111312"/>
                </a:solidFill>
              </a:rPr>
              <a:t>Target Users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38049-5420-461F-983B-6AFFFA1A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10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706C"/>
                </a:solidFill>
              </a:defRPr>
            </a:pPr>
            <a:r>
              <a:rPr sz="1200" b="1">
                <a:solidFill>
                  <a:srgbClr val="69706C"/>
                </a:solidFill>
              </a:rPr>
              <a:t>Final Project Pitch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33E01-A0E7-408E-94EB-A3163A6B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D9D4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6E5A3-A098-4A84-9D0B-20B350E5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706C"/>
                </a:solidFill>
              </a:defRPr>
            </a:pPr>
            <a:r>
              <a:rPr sz="1200" b="1">
                <a:solidFill>
                  <a:srgbClr val="69706C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F9FDB-988A-4AEB-A55F-B263DD02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9"/>
          </a:solidFill>
          <a:ln xmlns:a="http://schemas.openxmlformats.org/drawingml/2006/main" w="9525">
            <a:solidFill>
              <a:srgbClr val="00A88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8BF99-5FAF-4224-9490-75E28003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47900"/>
            <a:ext cx="691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</a:defRPr>
            </a:pPr>
            <a:r>
              <a:rPr sz="1725" b="1">
                <a:solidFill>
                  <a:srgbClr val="111312"/>
                </a:solidFill>
              </a:rPr>
              <a:t>AI beginners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7C0CE-E6B9-4DEC-B336-70CBB0D8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71750"/>
            <a:ext cx="691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6C"/>
                </a:solidFill>
              </a:defRPr>
            </a:pPr>
            <a:r>
              <a:rPr sz="1350" b="0">
                <a:solidFill>
                  <a:srgbClr val="69706C"/>
                </a:solidFill>
              </a:rPr>
              <a:t>People learning the first principles of machine perception.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E115E-5587-4E71-B8C6-183B7E04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9"/>
          </a:solidFill>
          <a:ln xmlns:a="http://schemas.openxmlformats.org/drawingml/2006/main" w="9525">
            <a:solidFill>
              <a:srgbClr val="00A88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12954-B36A-4C21-BE12-1094833D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67050"/>
            <a:ext cx="691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</a:defRPr>
            </a:pPr>
            <a:r>
              <a:rPr sz="1725" b="1">
                <a:solidFill>
                  <a:srgbClr val="111312"/>
                </a:solidFill>
              </a:rPr>
              <a:t>Students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9E76F-981D-44FE-A615-D3196E79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90900"/>
            <a:ext cx="691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6C"/>
                </a:solidFill>
              </a:defRPr>
            </a:pPr>
            <a:r>
              <a:rPr sz="1350" b="0">
                <a:solidFill>
                  <a:srgbClr val="69706C"/>
                </a:solidFill>
              </a:rPr>
              <a:t>High school, university, or bootcamp learners.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FD43A-38D8-4448-9DC6-452E6CA9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24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9"/>
          </a:solidFill>
          <a:ln xmlns:a="http://schemas.openxmlformats.org/drawingml/2006/main" w="9525">
            <a:solidFill>
              <a:srgbClr val="00A88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7848C-5417-49C8-8107-8F35797A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86200"/>
            <a:ext cx="691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</a:defRPr>
            </a:pPr>
            <a:r>
              <a:rPr sz="1725" b="1">
                <a:solidFill>
                  <a:srgbClr val="111312"/>
                </a:solidFill>
              </a:rPr>
              <a:t>Teachers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BDA11-7D2A-40CB-9FC1-2338DAEB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10050"/>
            <a:ext cx="691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6C"/>
                </a:solidFill>
              </a:defRPr>
            </a:pPr>
            <a:r>
              <a:rPr sz="1350" b="0">
                <a:solidFill>
                  <a:srgbClr val="69706C"/>
                </a:solidFill>
              </a:rPr>
              <a:t>A classroom-friendly visual demo for computer vision lessons.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AFCEB6-16FB-49C3-8F8F-BF266467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9706C"/>
                </a:solidFill>
              </a:defRPr>
            </a:pPr>
            <a:r>
              <a:rPr sz="1500" b="1">
                <a:solidFill>
                  <a:srgbClr val="69706C"/>
                </a:solidFill>
              </a:rPr>
              <a:t>Primary promise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1016B-782A-48ED-A4D3-CABB7524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1300"/>
            <a:ext cx="2190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2"/>
                </a:solidFill>
              </a:defRPr>
            </a:pPr>
            <a:r>
              <a:rPr sz="2250" b="1">
                <a:solidFill>
                  <a:srgbClr val="111312"/>
                </a:solidFill>
              </a:rPr>
              <a:t>Understand AI vision in five minutes by seeing the data move.</a:t>
            </a:r>
          </a:p>
        </p:txBody>
      </p:sp>
    </p:spTree>
    <p:extLst>
      <p:ext uri="{BB962C8B-B14F-4D97-AF65-F5344CB8AC3E}">
        <p14:creationId xmlns:p14="http://schemas.microsoft.com/office/powerpoint/2010/main" val="11082537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00FA75-C917-4FF3-89DB-CB2D3B75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706C"/>
                </a:solidFill>
              </a:defRPr>
            </a:pPr>
            <a:r>
              <a:rPr sz="1050" b="1">
                <a:solidFill>
                  <a:srgbClr val="69706C"/>
                </a:solidFill>
              </a:rPr>
              <a:t>HOW AI SEES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44682-53F3-4CF1-81B4-27DD9162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312"/>
                </a:solidFill>
              </a:defRPr>
            </a:pPr>
            <a:r>
              <a:rPr sz="3300" b="1">
                <a:solidFill>
                  <a:srgbClr val="111312"/>
                </a:solidFill>
              </a:rPr>
              <a:t>Competitive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D0A8F-F238-4321-98FF-8CAF541E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10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706C"/>
                </a:solidFill>
              </a:defRPr>
            </a:pPr>
            <a:r>
              <a:rPr sz="1200" b="1">
                <a:solidFill>
                  <a:srgbClr val="69706C"/>
                </a:solidFill>
              </a:rPr>
              <a:t>Final Project Pitch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BEC14-FE3B-4B8F-B61E-C60B72A1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D9D4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5AFC0-C494-483A-A9B8-122E427F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706C"/>
                </a:solidFill>
              </a:defRPr>
            </a:pPr>
            <a:r>
              <a:rPr sz="1200" b="1">
                <a:solidFill>
                  <a:srgbClr val="69706C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5F34F-413D-4360-9E21-5ED02F35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438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5912F-29E9-4D5B-8891-83D55C99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5265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343CE-C424-4A4F-B8B7-A8BF1674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7647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2"/>
                </a:solidFill>
              </a:defRPr>
            </a:pPr>
            <a:r>
              <a:rPr sz="1650" b="1">
                <a:solidFill>
                  <a:srgbClr val="111312"/>
                </a:solidFill>
              </a:rPr>
              <a:t>YouTube tutorials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8C2A0-7998-46A1-8E9C-D50D31A0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764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9706C"/>
                </a:solidFill>
              </a:defRPr>
            </a:pPr>
            <a:r>
              <a:rPr sz="1650" b="0">
                <a:solidFill>
                  <a:srgbClr val="69706C"/>
                </a:solidFill>
              </a:rPr>
              <a:t>Passive, not interactive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B18B8-2C1E-4D86-9175-2D7142D1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438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03652-39E5-4B45-A6AA-FACA47E4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7655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FB91B-B163-41C7-9F9A-7B8D311E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0037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2"/>
                </a:solidFill>
              </a:defRPr>
            </a:pPr>
            <a:r>
              <a:rPr sz="1650" b="1">
                <a:solidFill>
                  <a:srgbClr val="111312"/>
                </a:solidFill>
              </a:rPr>
              <a:t>Textbook explanations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51E0C-BCB1-4428-A64D-D5FBBFA8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00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9706C"/>
                </a:solidFill>
              </a:defRPr>
            </a:pPr>
            <a:r>
              <a:rPr sz="1650" b="0">
                <a:solidFill>
                  <a:srgbClr val="69706C"/>
                </a:solidFill>
              </a:rPr>
              <a:t>Accurate, but abstract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F12E4-C423-4C93-8207-51C4E71D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438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62368-2200-4B29-A946-DC4D72B6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0045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F2301-3789-419D-8229-6FB54986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2"/>
                </a:solidFill>
              </a:defRPr>
            </a:pPr>
            <a:r>
              <a:rPr sz="1650" b="1">
                <a:solidFill>
                  <a:srgbClr val="111312"/>
                </a:solidFill>
              </a:rPr>
              <a:t>Prediction demos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56E3CA-C0F1-418C-8240-EBC21130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242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9706C"/>
                </a:solidFill>
              </a:defRPr>
            </a:pPr>
            <a:r>
              <a:rPr sz="1650" b="0">
                <a:solidFill>
                  <a:srgbClr val="69706C"/>
                </a:solidFill>
              </a:rPr>
              <a:t>Show output, hide process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97413-3AAB-49B8-AB20-B3EB403A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438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7"/>
          </a:solidFill>
          <a:ln xmlns:a="http://schemas.openxmlformats.org/drawingml/2006/main" w="9525">
            <a:solidFill>
              <a:srgbClr val="07080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62E76D-B885-419A-AA2D-499264F7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2435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7"/>
          </a:solidFill>
          <a:ln xmlns:a="http://schemas.openxmlformats.org/drawingml/2006/main" w="9525">
            <a:solidFill>
              <a:srgbClr val="07080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139380-6E56-4A3E-97D3-CF4CF8BF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4817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1EA"/>
                </a:solidFill>
              </a:defRPr>
            </a:pPr>
            <a:r>
              <a:rPr sz="1650" b="1">
                <a:solidFill>
                  <a:srgbClr val="F4F1EA"/>
                </a:solidFill>
              </a:rPr>
              <a:t>How AI Sees You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3DF149-E059-4D13-8598-293A86AE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481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1EA"/>
                </a:solidFill>
              </a:defRPr>
            </a:pPr>
            <a:r>
              <a:rPr sz="1650" b="0">
                <a:solidFill>
                  <a:srgbClr val="F4F1EA"/>
                </a:solidFill>
              </a:rPr>
              <a:t>Interactive pipeline + tutor agent</a:t>
            </a:r>
          </a:p>
        </p:txBody>
      </p:sp>
    </p:spTree>
    <p:extLst>
      <p:ext uri="{BB962C8B-B14F-4D97-AF65-F5344CB8AC3E}">
        <p14:creationId xmlns:p14="http://schemas.microsoft.com/office/powerpoint/2010/main" val="21244528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294DAC-2134-4EAA-92FB-29E85007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706C"/>
                </a:solidFill>
              </a:defRPr>
            </a:pPr>
            <a:r>
              <a:rPr sz="1050" b="1">
                <a:solidFill>
                  <a:srgbClr val="69706C"/>
                </a:solidFill>
              </a:rPr>
              <a:t>HOW AI SEES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435D4-9361-4F51-A2AF-64DBDDD4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312"/>
                </a:solidFill>
              </a:defRPr>
            </a:pPr>
            <a:r>
              <a:rPr sz="3300" b="1">
                <a:solidFill>
                  <a:srgbClr val="111312"/>
                </a:solidFill>
              </a:rPr>
              <a:t>Business Potential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A358A-45A7-48D4-AAD2-819B0894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10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706C"/>
                </a:solidFill>
              </a:defRPr>
            </a:pPr>
            <a:r>
              <a:rPr sz="1200" b="1">
                <a:solidFill>
                  <a:srgbClr val="69706C"/>
                </a:solidFill>
              </a:rPr>
              <a:t>Final Project Pitch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25BD8-C172-441E-9D3B-746B8BCB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D9D4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525E7-AE08-4D6F-9364-F0B1C5C4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706C"/>
                </a:solidFill>
              </a:defRPr>
            </a:pPr>
            <a:r>
              <a:rPr sz="1200" b="1">
                <a:solidFill>
                  <a:srgbClr val="69706C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FFF79-30F3-4C2E-894F-C35D1B63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9"/>
          </a:solidFill>
          <a:ln xmlns:a="http://schemas.openxmlformats.org/drawingml/2006/main" w="9525">
            <a:solidFill>
              <a:srgbClr val="00A88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2D7EC-B4DF-4471-9CEE-E504BE7E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0750"/>
            <a:ext cx="672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</a:defRPr>
            </a:pPr>
            <a:r>
              <a:rPr sz="1725" b="1">
                <a:solidFill>
                  <a:srgbClr val="111312"/>
                </a:solidFill>
              </a:rPr>
              <a:t>EdTech demo tool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BD90E-6BCC-42D5-B50A-8F987595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14600"/>
            <a:ext cx="672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6C"/>
                </a:solidFill>
              </a:defRPr>
            </a:pPr>
            <a:r>
              <a:rPr sz="1350" b="0">
                <a:solidFill>
                  <a:srgbClr val="69706C"/>
                </a:solidFill>
              </a:rPr>
              <a:t>Useful for AI courses and workshops.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30B34-EE05-4F12-900C-D30E549D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9"/>
          </a:solidFill>
          <a:ln xmlns:a="http://schemas.openxmlformats.org/drawingml/2006/main" w="9525">
            <a:solidFill>
              <a:srgbClr val="00A88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A9335-0664-4849-8439-C145B857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28950"/>
            <a:ext cx="672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</a:defRPr>
            </a:pPr>
            <a:r>
              <a:rPr sz="1725" b="1">
                <a:solidFill>
                  <a:srgbClr val="111312"/>
                </a:solidFill>
              </a:rPr>
              <a:t>Premium lesson paths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E5CA0E-4474-4B47-86FF-85B635F4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52800"/>
            <a:ext cx="672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6C"/>
                </a:solidFill>
              </a:defRPr>
            </a:pPr>
            <a:r>
              <a:rPr sz="1350" b="0">
                <a:solidFill>
                  <a:srgbClr val="69706C"/>
                </a:solidFill>
              </a:rPr>
              <a:t>Add guided modules for CNNs, embeddings, and classification.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880A1-8A3F-4F0C-90C7-A9623D7A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9"/>
          </a:solidFill>
          <a:ln xmlns:a="http://schemas.openxmlformats.org/drawingml/2006/main" w="9525">
            <a:solidFill>
              <a:srgbClr val="00A88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A9E3CA-0AAF-43BE-BC68-C2E0DBAB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67150"/>
            <a:ext cx="672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</a:defRPr>
            </a:pPr>
            <a:r>
              <a:rPr sz="1725" b="1">
                <a:solidFill>
                  <a:srgbClr val="111312"/>
                </a:solidFill>
              </a:rPr>
              <a:t>Institution 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BF2CC4-3AB5-4FD0-9FA0-3D2B97DB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672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6C"/>
                </a:solidFill>
              </a:defRPr>
            </a:pPr>
            <a:r>
              <a:rPr sz="1350" b="0">
                <a:solidFill>
                  <a:srgbClr val="69706C"/>
                </a:solidFill>
              </a:rPr>
              <a:t>Package as a teacher-friendly classroom activity.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3DA11-66EE-43A6-A0DA-3CEE7293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4315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6DC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F857C-7A35-4A70-A791-9B9DE2AA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2"/>
                </a:solidFill>
              </a:defRPr>
            </a:pPr>
            <a:r>
              <a:rPr sz="2100" b="1">
                <a:solidFill>
                  <a:srgbClr val="111312"/>
                </a:solidFill>
              </a:rPr>
              <a:t>MVP now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D66597-0F38-40D0-8DD9-3C967272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0995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889"/>
                </a:solidFill>
              </a:defRPr>
            </a:pPr>
            <a:r>
              <a:rPr sz="2100" b="1">
                <a:solidFill>
                  <a:srgbClr val="00A889"/>
                </a:solidFill>
              </a:rPr>
              <a:t>Education product later</a:t>
            </a:r>
          </a:p>
        </p:txBody>
      </p:sp>
    </p:spTree>
    <p:extLst>
      <p:ext uri="{BB962C8B-B14F-4D97-AF65-F5344CB8AC3E}">
        <p14:creationId xmlns:p14="http://schemas.microsoft.com/office/powerpoint/2010/main" val="4639004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479E30-CD9A-4304-A449-ED7877B5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706C"/>
                </a:solidFill>
              </a:defRPr>
            </a:pPr>
            <a:r>
              <a:rPr sz="1050" b="1">
                <a:solidFill>
                  <a:srgbClr val="69706C"/>
                </a:solidFill>
              </a:rPr>
              <a:t>HOW AI SEES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00748-68D4-4F2E-B6E5-C6743685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312"/>
                </a:solidFill>
              </a:defRPr>
            </a:pPr>
            <a:r>
              <a:rPr sz="3300" b="1">
                <a:solidFill>
                  <a:srgbClr val="111312"/>
                </a:solidFill>
              </a:rPr>
              <a:t>Roadmap + Submission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50972-1FCE-4B5E-9A02-DDCD33C5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10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706C"/>
                </a:solidFill>
              </a:defRPr>
            </a:pPr>
            <a:r>
              <a:rPr sz="1200" b="1">
                <a:solidFill>
                  <a:srgbClr val="69706C"/>
                </a:solidFill>
              </a:rPr>
              <a:t>Final Project Pitch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AD209-EB0A-4DD8-B3EE-9D90AE76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solidFill>
              <a:srgbClr val="D9D4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EEAD6-2F2A-4F82-923D-25C94D5A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706C"/>
                </a:solidFill>
              </a:defRPr>
            </a:pPr>
            <a:r>
              <a:rPr sz="1200" b="1">
                <a:solidFill>
                  <a:srgbClr val="69706C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09632-E839-45A8-BC6E-01ABE487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9"/>
          </a:solidFill>
          <a:ln xmlns:a="http://schemas.openxmlformats.org/drawingml/2006/main" w="9525">
            <a:solidFill>
              <a:srgbClr val="00A88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D34AA-542E-4F4B-94CD-A8F2792A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52650"/>
            <a:ext cx="824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</a:defRPr>
            </a:pPr>
            <a:r>
              <a:rPr sz="1725" b="1">
                <a:solidFill>
                  <a:srgbClr val="111312"/>
                </a:solidFill>
              </a:rPr>
              <a:t>Next features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9E150-BDF8-4D3C-A672-DF24C60D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76500"/>
            <a:ext cx="824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6C"/>
                </a:solidFill>
              </a:defRPr>
            </a:pPr>
            <a:r>
              <a:rPr sz="1350" b="0">
                <a:solidFill>
                  <a:srgbClr val="69706C"/>
                </a:solidFill>
              </a:rPr>
              <a:t>Real LLM tutor, object labels, saved reports, and classroom mode.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8315E-4241-4F77-A260-8CAEE193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9"/>
          </a:solidFill>
          <a:ln xmlns:a="http://schemas.openxmlformats.org/drawingml/2006/main" w="9525">
            <a:solidFill>
              <a:srgbClr val="00A88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8CC73-CF78-47A7-9701-51D29F13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824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</a:defRPr>
            </a:pPr>
            <a:r>
              <a:rPr sz="1725" b="1">
                <a:solidFill>
                  <a:srgbClr val="111312"/>
                </a:solidFill>
              </a:rPr>
              <a:t>Submission package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29607-9A11-41C9-B91F-78FD37E6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824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6C"/>
                </a:solidFill>
              </a:defRPr>
            </a:pPr>
            <a:r>
              <a:rPr sz="1350" b="0">
                <a:solidFill>
                  <a:srgbClr val="69706C"/>
                </a:solidFill>
              </a:rPr>
              <a:t>GitHub repo, live site, AI agent screenshot/demo, and this pitch deck.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5D644-9810-4BD2-9A68-462895E8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9"/>
          </a:solidFill>
          <a:ln xmlns:a="http://schemas.openxmlformats.org/drawingml/2006/main" w="9525">
            <a:solidFill>
              <a:srgbClr val="00A88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571D5-7029-4A7D-B614-CBFBF90D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90950"/>
            <a:ext cx="824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</a:defRPr>
            </a:pPr>
            <a:r>
              <a:rPr sz="1725" b="1">
                <a:solidFill>
                  <a:srgbClr val="111312"/>
                </a:solidFill>
              </a:rPr>
              <a:t>Demo 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1FBD7-FC85-4EC5-8080-452EA3A6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14800"/>
            <a:ext cx="824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06C"/>
                </a:solidFill>
              </a:defRPr>
            </a:pPr>
            <a:r>
              <a:rPr sz="1350" b="0">
                <a:solidFill>
                  <a:srgbClr val="69706C"/>
                </a:solidFill>
              </a:rPr>
              <a:t>Use demo frame if camera permissions fail during presentation.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8D30B-C79E-4A5A-908F-54615B2E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958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9706C"/>
                </a:solidFill>
              </a:defRPr>
            </a:pPr>
            <a:r>
              <a:rPr sz="1650" b="1">
                <a:solidFill>
                  <a:srgbClr val="69706C"/>
                </a:solidFill>
              </a:rPr>
              <a:t>5-minute close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A904B-AC6A-4CC1-9B78-6F8644DD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2"/>
                </a:solidFill>
              </a:defRPr>
            </a:pPr>
            <a:r>
              <a:rPr sz="2100" b="1">
                <a:solidFill>
                  <a:srgbClr val="111312"/>
                </a:solidFill>
              </a:rPr>
              <a:t>Problem -&gt; demo -&gt; agent -&gt; value</a:t>
            </a:r>
          </a:p>
        </p:txBody>
      </p:sp>
    </p:spTree>
    <p:extLst>
      <p:ext uri="{BB962C8B-B14F-4D97-AF65-F5344CB8AC3E}">
        <p14:creationId xmlns:p14="http://schemas.microsoft.com/office/powerpoint/2010/main" val="856098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2026-06-29T11:28:15.2900000Z</dcterms:created>
  <dcterms:modified xsi:type="dcterms:W3CDTF">2026-06-29T11:28:15.2900000Z</dcterms:modified>
</coreProperties>
</file>